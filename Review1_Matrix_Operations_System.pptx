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28575">
            <a:solidFill>
              <a:srgbClr val="111111"/>
            </a:solidFill>
            <a:prstDash val="solid"/>
          </a:ln>
        </p:spPr>
      </p:sp>
      <p:pic>
        <p:nvPicPr>
          <p:cNvPr id="3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2377440" cy="8503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0" y="141732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633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C++ PROJECT REVIEW - 1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0" y="2057400"/>
            <a:ext cx="121889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MATRIX OPERATION SYSTEM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0" y="2880360"/>
            <a:ext cx="12188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NUMBER: 1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703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005840" y="411480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 NAMRATH SAI ABHAY  –  25B11CS687  –  CSE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 RAJEEV  –  25B11CSA12  –  CSE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SRI KOUSHIK  –  25B11DS221  –  DS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N. MOKSHITH ABHINAV  –  25B11DS388  –  DS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6949440" y="3703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esteemed guidance of: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949440" y="4206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KALYANI MAM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6949440" y="455371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Professor (AIML)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OPERATION SYSTEM  |  C++ PROJECT REVIEW - 1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822960" cy="822960"/>
          </a:xfrm>
          <a:prstGeom prst="roundRect">
            <a:avLst>
              <a:gd name="adj" fmla="val 15556"/>
            </a:avLst>
          </a:prstGeom>
          <a:solidFill>
            <a:srgbClr val="E9EEF8"/>
          </a:solidFill>
          <a:ln/>
        </p:spPr>
      </p:sp>
      <p:pic>
        <p:nvPicPr>
          <p:cNvPr id="7" name="Image 0" descr="ic_abstra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050" y="1905610"/>
            <a:ext cx="395021" cy="39502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737360" y="1600200"/>
            <a:ext cx="9692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Matrix Operations System is a C++ application built to perform core linear-algebra computations — addition, subtraction, multiplication, transpose, determinant, adjoint, inverse, and rank — using proper Object-Oriented design.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640080" y="2880360"/>
            <a:ext cx="352044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14400" y="315468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6336B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914400" y="384048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Encapsulated Design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4343400"/>
            <a:ext cx="29718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reusable Matrix class holds all data and logic, with private fields accessed only through safe public methods.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480560" y="2880360"/>
            <a:ext cx="352044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754880" y="315468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E8630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4754880" y="384048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Operator Overloading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4754880" y="4343400"/>
            <a:ext cx="29718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Matrices are combined using natural syntax — A + B, A - B, A * B — just like built-in numeric types.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8321040" y="2880360"/>
            <a:ext cx="352044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595360" y="315468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B7A3E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595360" y="384048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Exception Safety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8595360" y="4343400"/>
            <a:ext cx="29718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operations (mismatched sizes, singular matrices) are caught and reported cleanly, never crash the program.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F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OPERATION SYSTEM  |  C++ PROJECT REVIEW - 1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13294F"/>
          </a:solidFill>
          <a:ln w="12700">
            <a:solidFill>
              <a:srgbClr val="2A4A8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96596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2A4A82"/>
          </a:solidFill>
          <a:ln/>
        </p:spPr>
      </p:sp>
      <p:pic>
        <p:nvPicPr>
          <p:cNvPr id="8" name="Image 0" descr="ic_probl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2144" y="2203704"/>
            <a:ext cx="438912" cy="43891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2103120" y="1874520"/>
            <a:ext cx="91440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computations are fundamental across engineering, graphics, and data analysis — but traditional academic implementations are confined to plain console programs, offering no visual feedback and poor accessibility for a non-technical user.</a:t>
            </a:r>
            <a:endParaRPr lang="en-US" sz="15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3429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missing in typical implementations: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40080" y="3959352"/>
            <a:ext cx="256032" cy="256032"/>
          </a:xfrm>
          <a:prstGeom prst="ellipse">
            <a:avLst/>
          </a:prstGeom>
          <a:solidFill>
            <a:srgbClr val="E8630A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40080" y="395935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1051560" y="3931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7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interactive interface — just raw text input/output in a terminal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640080" y="4526280"/>
            <a:ext cx="256032" cy="256032"/>
          </a:xfrm>
          <a:prstGeom prst="ellipse">
            <a:avLst/>
          </a:prstGeom>
          <a:solidFill>
            <a:srgbClr val="E8630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40080" y="45262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1051560" y="449884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7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graceful handling of invalid input (singular matrices, size mismatches)</a:t>
            </a:r>
            <a:endParaRPr lang="en-US" sz="1450" dirty="0"/>
          </a:p>
        </p:txBody>
      </p:sp>
      <p:sp>
        <p:nvSpPr>
          <p:cNvPr id="17" name="Shape 14"/>
          <p:cNvSpPr/>
          <p:nvPr/>
        </p:nvSpPr>
        <p:spPr>
          <a:xfrm>
            <a:off x="640080" y="5093208"/>
            <a:ext cx="256032" cy="256032"/>
          </a:xfrm>
          <a:prstGeom prst="ellipse">
            <a:avLst/>
          </a:prstGeom>
          <a:solidFill>
            <a:srgbClr val="E8630A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40080" y="509320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1051560" y="5065776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7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 logic tightly mixed with input/output code — hard to reuse or extend</a:t>
            </a:r>
            <a:endParaRPr lang="en-US" sz="1450" dirty="0"/>
          </a:p>
        </p:txBody>
      </p:sp>
      <p:sp>
        <p:nvSpPr>
          <p:cNvPr id="20" name="Shape 17"/>
          <p:cNvSpPr/>
          <p:nvPr/>
        </p:nvSpPr>
        <p:spPr>
          <a:xfrm>
            <a:off x="640080" y="5660136"/>
            <a:ext cx="256032" cy="256032"/>
          </a:xfrm>
          <a:prstGeom prst="ellipse">
            <a:avLst/>
          </a:prstGeom>
          <a:solidFill>
            <a:srgbClr val="E8630A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40080" y="566013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5632704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7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accessible way for a non-programmer to actually use the tool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OPERATION SYSTEM  |  C++ PROJECT REVIEW - 1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822960" cy="822960"/>
          </a:xfrm>
          <a:prstGeom prst="roundRect">
            <a:avLst>
              <a:gd name="adj" fmla="val 15556"/>
            </a:avLst>
          </a:prstGeom>
          <a:solidFill>
            <a:srgbClr val="E5F3EA"/>
          </a:solidFill>
          <a:ln/>
        </p:spPr>
      </p:sp>
      <p:pic>
        <p:nvPicPr>
          <p:cNvPr id="7" name="Image 0" descr="ic_sol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050" y="1905610"/>
            <a:ext cx="395021" cy="39502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737360" y="1600200"/>
            <a:ext cx="9692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reusable, exception-safe Matrix engine in C++, then expose it through a lightweight web interface — so the same tested computation logic powers an accessible, interactive front end.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640080" y="2971800"/>
            <a:ext cx="2606040" cy="26517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96112" y="3227832"/>
            <a:ext cx="457200" cy="457200"/>
          </a:xfrm>
          <a:prstGeom prst="ellipse">
            <a:avLst/>
          </a:prstGeom>
          <a:solidFill>
            <a:srgbClr val="16336B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96112" y="32278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896112" y="3886200"/>
            <a:ext cx="20939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6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96112" y="4297680"/>
            <a:ext cx="209397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Matrix class using encapsulation, constructors, and operator overloading for +, -, *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3264408" y="406908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3465576" y="2971800"/>
            <a:ext cx="2606040" cy="26517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721608" y="3227832"/>
            <a:ext cx="457200" cy="457200"/>
          </a:xfrm>
          <a:prstGeom prst="ellipse">
            <a:avLst/>
          </a:prstGeom>
          <a:solidFill>
            <a:srgbClr val="16336B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3721608" y="32278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3721608" y="3886200"/>
            <a:ext cx="20939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6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Extend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3721608" y="4297680"/>
            <a:ext cx="209397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determinant, adjoint, inverse &amp; rank, with exception handling for invalid input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6089904" y="406908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Shape 18"/>
          <p:cNvSpPr/>
          <p:nvPr/>
        </p:nvSpPr>
        <p:spPr>
          <a:xfrm>
            <a:off x="6291072" y="2971800"/>
            <a:ext cx="2606040" cy="26517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547104" y="3227832"/>
            <a:ext cx="457200" cy="457200"/>
          </a:xfrm>
          <a:prstGeom prst="ellipse">
            <a:avLst/>
          </a:prstGeom>
          <a:solidFill>
            <a:srgbClr val="16336B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547104" y="32278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6547104" y="3886200"/>
            <a:ext cx="20939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6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6547104" y="4297680"/>
            <a:ext cx="209397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Console-test the full engine in isolation before adding any interface layer</a:t>
            </a:r>
            <a:endParaRPr lang="en-US" sz="1150" dirty="0"/>
          </a:p>
        </p:txBody>
      </p:sp>
      <p:sp>
        <p:nvSpPr>
          <p:cNvPr id="26" name="Text 23"/>
          <p:cNvSpPr txBox="1"/>
          <p:nvPr/>
        </p:nvSpPr>
        <p:spPr>
          <a:xfrm>
            <a:off x="8915400" y="406908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7" name="Shape 24"/>
          <p:cNvSpPr/>
          <p:nvPr/>
        </p:nvSpPr>
        <p:spPr>
          <a:xfrm>
            <a:off x="9116568" y="2971800"/>
            <a:ext cx="2606040" cy="26517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9372600" y="3227832"/>
            <a:ext cx="457200" cy="457200"/>
          </a:xfrm>
          <a:prstGeom prst="ellipse">
            <a:avLst/>
          </a:prstGeom>
          <a:solidFill>
            <a:srgbClr val="16336B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9372600" y="32278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30" name="Text 27"/>
          <p:cNvSpPr txBox="1"/>
          <p:nvPr/>
        </p:nvSpPr>
        <p:spPr>
          <a:xfrm>
            <a:off x="9372600" y="3886200"/>
            <a:ext cx="20939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6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</a:t>
            </a:r>
            <a:endParaRPr lang="en-US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9372600" y="4297680"/>
            <a:ext cx="209397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the engine in a small C++ web server so results render in a browser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WE'VE BUILT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Modules Implemented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OPERATION SYSTEM  |  C++ PROJECT REVIEW - 1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002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computation engine is being developed as a reusable, testable C++ module.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331720"/>
            <a:ext cx="2606040" cy="324612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96112" y="2587752"/>
            <a:ext cx="548640" cy="548640"/>
          </a:xfrm>
          <a:prstGeom prst="roundRect">
            <a:avLst>
              <a:gd name="adj" fmla="val 23333"/>
            </a:avLst>
          </a:prstGeom>
          <a:solidFill>
            <a:srgbClr val="F0F3F8"/>
          </a:solidFill>
          <a:ln/>
        </p:spPr>
      </p:sp>
      <p:pic>
        <p:nvPicPr>
          <p:cNvPr id="9" name="Image 0" descr="ic_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8758" y="2730398"/>
            <a:ext cx="263347" cy="26334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96112" y="3291840"/>
            <a:ext cx="20939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3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Matrix Core Class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896112" y="3886200"/>
            <a:ext cx="2093976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Matrix object stores matrix data and exposes safe operations through public methods.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465576" y="2331720"/>
            <a:ext cx="2606040" cy="324612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721608" y="2587752"/>
            <a:ext cx="548640" cy="548640"/>
          </a:xfrm>
          <a:prstGeom prst="roundRect">
            <a:avLst>
              <a:gd name="adj" fmla="val 23333"/>
            </a:avLst>
          </a:prstGeom>
          <a:solidFill>
            <a:srgbClr val="F0F3F8"/>
          </a:solidFill>
          <a:ln/>
        </p:spPr>
      </p:sp>
      <p:pic>
        <p:nvPicPr>
          <p:cNvPr id="14" name="Image 1" descr="ic_solu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4254" y="2730398"/>
            <a:ext cx="263347" cy="263347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3721608" y="3291840"/>
            <a:ext cx="20939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6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Basic Operations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3721608" y="3886200"/>
            <a:ext cx="2093976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Addition, subtraction and multiplication are implemented with operator overloading for natural syntax.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6291072" y="2331720"/>
            <a:ext cx="2606040" cy="324612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547104" y="2587752"/>
            <a:ext cx="548640" cy="548640"/>
          </a:xfrm>
          <a:prstGeom prst="roundRect">
            <a:avLst>
              <a:gd name="adj" fmla="val 23333"/>
            </a:avLst>
          </a:prstGeom>
          <a:solidFill>
            <a:srgbClr val="F0F3F8"/>
          </a:solidFill>
          <a:ln/>
        </p:spPr>
      </p:sp>
      <p:pic>
        <p:nvPicPr>
          <p:cNvPr id="19" name="Image 2" descr="ic_cpu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9750" y="2730398"/>
            <a:ext cx="263347" cy="263347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547104" y="3291840"/>
            <a:ext cx="20939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7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Operations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6547104" y="3886200"/>
            <a:ext cx="2093976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Determinant, transpose, adjoint, inverse and rank form the extended computation module.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9116568" y="2331720"/>
            <a:ext cx="2606040" cy="324612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9372600" y="2587752"/>
            <a:ext cx="548640" cy="548640"/>
          </a:xfrm>
          <a:prstGeom prst="roundRect">
            <a:avLst>
              <a:gd name="adj" fmla="val 23333"/>
            </a:avLst>
          </a:prstGeom>
          <a:solidFill>
            <a:srgbClr val="F0F3F8"/>
          </a:solidFill>
          <a:ln/>
        </p:spPr>
      </p:sp>
      <p:pic>
        <p:nvPicPr>
          <p:cNvPr id="24" name="Image 3" descr="ic_shie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15246" y="2730398"/>
            <a:ext cx="263347" cy="263347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372600" y="3291840"/>
            <a:ext cx="20939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3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&amp; Exceptions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9372600" y="3886200"/>
            <a:ext cx="2093976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mismatches and singular-matrix cases are detected and reported instead of causing crashes.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F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Frontend–Backend Connection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OPERATION SYSTEM  |  C++ PROJECT REVIEW - 1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002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F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request–process–response flow connects the web interface with the C++ engine.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024128" y="2697480"/>
            <a:ext cx="0" cy="2688336"/>
          </a:xfrm>
          <a:prstGeom prst="line">
            <a:avLst/>
          </a:prstGeom>
          <a:noFill/>
          <a:ln w="28575">
            <a:solidFill>
              <a:srgbClr val="2A4A8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2514600"/>
            <a:ext cx="411480" cy="411480"/>
          </a:xfrm>
          <a:prstGeom prst="ellipse">
            <a:avLst/>
          </a:prstGeom>
          <a:solidFill>
            <a:srgbClr val="E8630A"/>
          </a:solidFill>
          <a:ln w="15875">
            <a:solidFill>
              <a:srgbClr val="8FB4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2514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2468880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Input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508760" y="2862072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F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browser provides an interactive surface for entering matrices and selecting an operation.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3410712"/>
            <a:ext cx="411480" cy="411480"/>
          </a:xfrm>
          <a:prstGeom prst="ellipse">
            <a:avLst/>
          </a:prstGeom>
          <a:solidFill>
            <a:srgbClr val="13294F"/>
          </a:solidFill>
          <a:ln w="15875">
            <a:solidFill>
              <a:srgbClr val="8FB4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341071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3364992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HTTP Request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508760" y="3758184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F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frontend sends the requested matrix operation to the lightweight C++ web-server bridge.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" y="4306824"/>
            <a:ext cx="411480" cy="411480"/>
          </a:xfrm>
          <a:prstGeom prst="ellipse">
            <a:avLst/>
          </a:prstGeom>
          <a:solidFill>
            <a:srgbClr val="13294F"/>
          </a:solidFill>
          <a:ln w="15875">
            <a:solidFill>
              <a:srgbClr val="8FB4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430682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4261104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C++ Processing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508760" y="4654296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F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server passes the request to the Matrix engine, keeping computation logic separate from the UI.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22960" y="5202936"/>
            <a:ext cx="411480" cy="411480"/>
          </a:xfrm>
          <a:prstGeom prst="ellipse">
            <a:avLst/>
          </a:prstGeom>
          <a:solidFill>
            <a:srgbClr val="13294F"/>
          </a:solidFill>
          <a:ln w="15875">
            <a:solidFill>
              <a:srgbClr val="8FB4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520293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508760" y="5157216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 Display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1508760" y="5550408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F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computed result is returned to the browser and rendered for the user in a clear interface.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OPERATION SYSTEM  |  C++ PROJECT REVIEW - 1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194560" y="1783080"/>
            <a:ext cx="7772400" cy="1051560"/>
          </a:xfrm>
          <a:prstGeom prst="roundRect">
            <a:avLst>
              <a:gd name="adj" fmla="val 6957"/>
            </a:avLst>
          </a:prstGeom>
          <a:solidFill>
            <a:srgbClr val="16336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560320" y="1920240"/>
            <a:ext cx="7040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 Layer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2560320" y="2350008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— HTML / CSS / JavaScript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897880" y="2852928"/>
            <a:ext cx="36576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194560" y="3337560"/>
            <a:ext cx="7772400" cy="1051560"/>
          </a:xfrm>
          <a:prstGeom prst="roundRect">
            <a:avLst>
              <a:gd name="adj" fmla="val 6957"/>
            </a:avLst>
          </a:prstGeom>
          <a:solidFill>
            <a:srgbClr val="E8630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560320" y="3474720"/>
            <a:ext cx="7040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Layer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560320" y="3904488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Web Server (bridge)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897880" y="4407408"/>
            <a:ext cx="36576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2194560" y="4892040"/>
            <a:ext cx="7772400" cy="1051560"/>
          </a:xfrm>
          <a:prstGeom prst="roundRect">
            <a:avLst>
              <a:gd name="adj" fmla="val 6957"/>
            </a:avLst>
          </a:prstGeom>
          <a:solidFill>
            <a:srgbClr val="1B7A3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560320" y="5029200"/>
            <a:ext cx="7040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Computation Layer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2560320" y="5458968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Engine — pure C++ classes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6108192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has a single responsibility — the computation engine has zero knowledge of the web, and can be tested entirely on its own.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&amp; Tools Used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OPERATION SYSTEM  |  C++ PROJECT REVIEW - 1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6112" y="1993392"/>
            <a:ext cx="594360" cy="594360"/>
          </a:xfrm>
          <a:prstGeom prst="roundRect">
            <a:avLst>
              <a:gd name="adj" fmla="val 21538"/>
            </a:avLst>
          </a:prstGeom>
          <a:solidFill>
            <a:srgbClr val="F0F3F8"/>
          </a:solidFill>
          <a:ln/>
        </p:spPr>
      </p:sp>
      <p:pic>
        <p:nvPicPr>
          <p:cNvPr id="8" name="Image 0" descr="ic_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646" y="2147926"/>
            <a:ext cx="285293" cy="285293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645920" y="1993392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C++ (C++17)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896112" y="2788920"/>
            <a:ext cx="300837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 for the Matrix engine and server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480560" y="173736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36592" y="1993392"/>
            <a:ext cx="594360" cy="594360"/>
          </a:xfrm>
          <a:prstGeom prst="roundRect">
            <a:avLst>
              <a:gd name="adj" fmla="val 21538"/>
            </a:avLst>
          </a:prstGeom>
          <a:solidFill>
            <a:srgbClr val="F0F3F8"/>
          </a:solidFill>
          <a:ln/>
        </p:spPr>
      </p:sp>
      <p:pic>
        <p:nvPicPr>
          <p:cNvPr id="13" name="Image 1" descr="ic_glob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1126" y="2147926"/>
            <a:ext cx="285293" cy="285293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486400" y="1993392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 / CSS / JS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4736592" y="2788920"/>
            <a:ext cx="300837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 interface for input and results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321040" y="173736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577072" y="1993392"/>
            <a:ext cx="594360" cy="594360"/>
          </a:xfrm>
          <a:prstGeom prst="roundRect">
            <a:avLst>
              <a:gd name="adj" fmla="val 21538"/>
            </a:avLst>
          </a:prstGeom>
          <a:solidFill>
            <a:srgbClr val="F0F3F8"/>
          </a:solidFill>
          <a:ln/>
        </p:spPr>
      </p:sp>
      <p:pic>
        <p:nvPicPr>
          <p:cNvPr id="18" name="Image 2" descr="ic_tool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1606" y="2147926"/>
            <a:ext cx="285293" cy="285293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326880" y="1993392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 Code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8577072" y="2788920"/>
            <a:ext cx="300837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environment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640080" y="402336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896112" y="4279392"/>
            <a:ext cx="594360" cy="594360"/>
          </a:xfrm>
          <a:prstGeom prst="roundRect">
            <a:avLst>
              <a:gd name="adj" fmla="val 21538"/>
            </a:avLst>
          </a:prstGeom>
          <a:solidFill>
            <a:srgbClr val="F0F3F8"/>
          </a:solidFill>
          <a:ln/>
        </p:spPr>
      </p:sp>
      <p:pic>
        <p:nvPicPr>
          <p:cNvPr id="23" name="Image 3" descr="ic_cpu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0646" y="4433926"/>
            <a:ext cx="285293" cy="285293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645920" y="4279392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MinGW-w64 / g++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896112" y="5074920"/>
            <a:ext cx="300837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compiler toolchain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4480560" y="402336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4736592" y="4279392"/>
            <a:ext cx="594360" cy="594360"/>
          </a:xfrm>
          <a:prstGeom prst="roundRect">
            <a:avLst>
              <a:gd name="adj" fmla="val 21538"/>
            </a:avLst>
          </a:prstGeom>
          <a:solidFill>
            <a:srgbClr val="F0F3F8"/>
          </a:solidFill>
          <a:ln/>
        </p:spPr>
      </p:sp>
      <p:pic>
        <p:nvPicPr>
          <p:cNvPr id="28" name="Image 4" descr="ic_branch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1126" y="4433926"/>
            <a:ext cx="285293" cy="285293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5486400" y="4279392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&amp; GitHub</a:t>
            </a:r>
            <a:endParaRPr lang="en-US" sz="1500" dirty="0"/>
          </a:p>
        </p:txBody>
      </p:sp>
      <p:sp>
        <p:nvSpPr>
          <p:cNvPr id="30" name="Text 23"/>
          <p:cNvSpPr txBox="1"/>
          <p:nvPr/>
        </p:nvSpPr>
        <p:spPr>
          <a:xfrm>
            <a:off x="4736592" y="5074920"/>
            <a:ext cx="300837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and source hosting</a:t>
            </a:r>
            <a:endParaRPr lang="en-US" sz="1150" dirty="0"/>
          </a:p>
        </p:txBody>
      </p:sp>
      <p:sp>
        <p:nvSpPr>
          <p:cNvPr id="31" name="Shape 24"/>
          <p:cNvSpPr/>
          <p:nvPr/>
        </p:nvSpPr>
        <p:spPr>
          <a:xfrm>
            <a:off x="8321040" y="402336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8577072" y="4279392"/>
            <a:ext cx="594360" cy="594360"/>
          </a:xfrm>
          <a:prstGeom prst="roundRect">
            <a:avLst>
              <a:gd name="adj" fmla="val 21538"/>
            </a:avLst>
          </a:prstGeom>
          <a:solidFill>
            <a:srgbClr val="F0F3F8"/>
          </a:solidFill>
          <a:ln/>
        </p:spPr>
      </p:sp>
      <p:pic>
        <p:nvPicPr>
          <p:cNvPr id="33" name="Image 5" descr="ic_serve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31606" y="4433926"/>
            <a:ext cx="285293" cy="285293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9326880" y="4279392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cpp-httplib</a:t>
            </a:r>
            <a:endParaRPr lang="en-US" sz="1500" dirty="0"/>
          </a:p>
        </p:txBody>
      </p:sp>
      <p:sp>
        <p:nvSpPr>
          <p:cNvPr id="35" name="Text 27"/>
          <p:cNvSpPr txBox="1"/>
          <p:nvPr/>
        </p:nvSpPr>
        <p:spPr>
          <a:xfrm>
            <a:off x="8577072" y="5074920"/>
            <a:ext cx="300837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embedded C++ HTTP server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F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WRAPPING UP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OPERATION SYSTEM  |  C++ PROJECT REVIEW - 1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777240" cy="777240"/>
          </a:xfrm>
          <a:prstGeom prst="roundRect">
            <a:avLst>
              <a:gd name="adj" fmla="val 16471"/>
            </a:avLst>
          </a:prstGeom>
          <a:solidFill>
            <a:srgbClr val="13294F"/>
          </a:solidFill>
          <a:ln/>
        </p:spPr>
      </p:sp>
      <p:pic>
        <p:nvPicPr>
          <p:cNvPr id="7" name="Image 0" descr="ic_fla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2162" y="1939442"/>
            <a:ext cx="373075" cy="37307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91640" y="1691640"/>
            <a:ext cx="9692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7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establishes a solid foundation: a clear problem statement, a well-defined OOP design for the Matrix engine, and a concrete architecture plan for connecting it to a web interface. With the core modules underway, the project is well-positioned to move into full implementation.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2926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FE0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40080" y="3456432"/>
            <a:ext cx="201168" cy="201168"/>
          </a:xfrm>
          <a:prstGeom prst="ellipse">
            <a:avLst/>
          </a:prstGeom>
          <a:solidFill>
            <a:srgbClr val="E8630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005840" y="342900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7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reusable, encapsulated Matrix class forms the core of the system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40080" y="3913632"/>
            <a:ext cx="201168" cy="201168"/>
          </a:xfrm>
          <a:prstGeom prst="ellipse">
            <a:avLst/>
          </a:prstGeom>
          <a:solidFill>
            <a:srgbClr val="E8630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005840" y="388620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7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overloading and exception handling ensure safe, natural-syntax computation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40080" y="4370832"/>
            <a:ext cx="201168" cy="201168"/>
          </a:xfrm>
          <a:prstGeom prst="ellipse">
            <a:avLst/>
          </a:prstGeom>
          <a:solidFill>
            <a:srgbClr val="E8630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005840" y="434340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7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three-tier architecture cleanly separates the engine, server, and interface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640080" y="4828032"/>
            <a:ext cx="201168" cy="201168"/>
          </a:xfrm>
          <a:prstGeom prst="ellipse">
            <a:avLst/>
          </a:prstGeom>
          <a:solidFill>
            <a:srgbClr val="E8630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1005840" y="480060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7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web bridge (cpp-httplib) and frontend plan are ready to be built out in full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640080" y="5285232"/>
            <a:ext cx="201168" cy="201168"/>
          </a:xfrm>
          <a:prstGeom prst="ellipse">
            <a:avLst/>
          </a:prstGeom>
          <a:solidFill>
            <a:srgbClr val="E8630A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1005840" y="525780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7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is on track to deliver a complete, demo-ready system by Review 2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8686800" y="59436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E86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2026-09-23T05:18:12Z</dcterms:created>
  <dcterms:modified xsi:type="dcterms:W3CDTF">2026-09-23T05:18:12Z</dcterms:modified>
</cp:coreProperties>
</file>